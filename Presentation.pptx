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72" r:id="rId2"/>
    <p:sldId id="256" r:id="rId3"/>
    <p:sldId id="257" r:id="rId4"/>
    <p:sldId id="268" r:id="rId5"/>
    <p:sldId id="258" r:id="rId6"/>
    <p:sldId id="259" r:id="rId7"/>
    <p:sldId id="271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873FF6-73F9-413B-980D-DDA708A647B3}">
          <p14:sldIdLst>
            <p14:sldId id="272"/>
            <p14:sldId id="256"/>
            <p14:sldId id="257"/>
            <p14:sldId id="268"/>
            <p14:sldId id="258"/>
            <p14:sldId id="259"/>
            <p14:sldId id="271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8C88EC-E62E-4866-8615-4D2C66ABBE57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C3E44A9-3DB5-4500-9CF0-9B5757C83113}">
      <dgm:prSet phldrT="[Text]" phldr="0"/>
      <dgm:spPr/>
      <dgm:t>
        <a:bodyPr/>
        <a:lstStyle/>
        <a:p>
          <a:r>
            <a:rPr lang="en-US"/>
            <a:t>TOTAL VOLUME</a:t>
          </a:r>
          <a:endParaRPr lang="en-IN" dirty="0"/>
        </a:p>
      </dgm:t>
    </dgm:pt>
    <dgm:pt modelId="{B9D80260-DFD2-4D0D-87C3-01C914BA845D}" type="parTrans" cxnId="{389EA528-968E-4CDB-BB62-B50AE6985BC8}">
      <dgm:prSet/>
      <dgm:spPr/>
      <dgm:t>
        <a:bodyPr/>
        <a:lstStyle/>
        <a:p>
          <a:endParaRPr lang="en-IN"/>
        </a:p>
      </dgm:t>
    </dgm:pt>
    <dgm:pt modelId="{BEA9E0B7-B265-46FA-901E-7858EEE0BC84}" type="sibTrans" cxnId="{389EA528-968E-4CDB-BB62-B50AE6985BC8}">
      <dgm:prSet/>
      <dgm:spPr/>
      <dgm:t>
        <a:bodyPr/>
        <a:lstStyle/>
        <a:p>
          <a:endParaRPr lang="en-IN"/>
        </a:p>
      </dgm:t>
    </dgm:pt>
    <dgm:pt modelId="{2C4AE020-ED55-4256-A85E-12D38CBFFF60}">
      <dgm:prSet phldrT="[Text]" phldr="0"/>
      <dgm:spPr/>
      <dgm:t>
        <a:bodyPr/>
        <a:lstStyle/>
        <a:p>
          <a:r>
            <a:rPr lang="en-US" dirty="0"/>
            <a:t>DIMENSIONALITY</a:t>
          </a:r>
          <a:endParaRPr lang="en-IN" dirty="0"/>
        </a:p>
      </dgm:t>
    </dgm:pt>
    <dgm:pt modelId="{1CAA4576-DAC0-4737-9B1B-C611780E3A3E}" type="parTrans" cxnId="{CA0D9725-1E48-40FE-9C3B-B4EA433B487C}">
      <dgm:prSet/>
      <dgm:spPr/>
      <dgm:t>
        <a:bodyPr/>
        <a:lstStyle/>
        <a:p>
          <a:endParaRPr lang="en-IN"/>
        </a:p>
      </dgm:t>
    </dgm:pt>
    <dgm:pt modelId="{827D8D7A-7F3F-40B3-9D19-0D184D3CBBFF}" type="sibTrans" cxnId="{CA0D9725-1E48-40FE-9C3B-B4EA433B487C}">
      <dgm:prSet/>
      <dgm:spPr/>
      <dgm:t>
        <a:bodyPr/>
        <a:lstStyle/>
        <a:p>
          <a:endParaRPr lang="en-IN"/>
        </a:p>
      </dgm:t>
    </dgm:pt>
    <dgm:pt modelId="{0994EF63-18D4-40AF-8085-14991CD1A8E2}">
      <dgm:prSet phldrT="[Text]" phldr="0"/>
      <dgm:spPr/>
      <dgm:t>
        <a:bodyPr/>
        <a:lstStyle/>
        <a:p>
          <a:r>
            <a:rPr lang="en-US" dirty="0"/>
            <a:t>PREDICTION GOAL</a:t>
          </a:r>
          <a:endParaRPr lang="en-IN" dirty="0"/>
        </a:p>
      </dgm:t>
    </dgm:pt>
    <dgm:pt modelId="{8A5A400F-0548-4023-8ECF-9F3D312AFF34}" type="parTrans" cxnId="{3C3C26BA-08B8-436A-BBC5-6E033F2362D9}">
      <dgm:prSet/>
      <dgm:spPr/>
      <dgm:t>
        <a:bodyPr/>
        <a:lstStyle/>
        <a:p>
          <a:endParaRPr lang="en-IN"/>
        </a:p>
      </dgm:t>
    </dgm:pt>
    <dgm:pt modelId="{A92BDF0F-6DA9-4F04-BDFC-812CF9373714}" type="sibTrans" cxnId="{3C3C26BA-08B8-436A-BBC5-6E033F2362D9}">
      <dgm:prSet/>
      <dgm:spPr/>
      <dgm:t>
        <a:bodyPr/>
        <a:lstStyle/>
        <a:p>
          <a:endParaRPr lang="en-IN"/>
        </a:p>
      </dgm:t>
    </dgm:pt>
    <dgm:pt modelId="{2A113944-88B3-4D5A-BED2-937AC8163CAB}">
      <dgm:prSet custT="1"/>
      <dgm:spPr/>
      <dgm:t>
        <a:bodyPr/>
        <a:lstStyle/>
        <a:p>
          <a:r>
            <a:rPr lang="en-US" sz="2800" dirty="0"/>
            <a:t>1,460      </a:t>
          </a:r>
          <a:r>
            <a:rPr lang="en-US" sz="2000" dirty="0"/>
            <a:t>Rows/Observation </a:t>
          </a:r>
          <a:r>
            <a:rPr lang="en-US" sz="2800" dirty="0"/>
            <a:t>                     </a:t>
          </a:r>
          <a:endParaRPr lang="en-IN" sz="2800" dirty="0"/>
        </a:p>
      </dgm:t>
    </dgm:pt>
    <dgm:pt modelId="{6F0FA731-11FE-4942-A04E-CD8819A9FABA}" type="parTrans" cxnId="{07C3F0C8-86C7-4CFA-8C6C-FD147D74AAAF}">
      <dgm:prSet/>
      <dgm:spPr/>
    </dgm:pt>
    <dgm:pt modelId="{A78937BE-8666-4EB9-AA88-FE72E4624324}" type="sibTrans" cxnId="{07C3F0C8-86C7-4CFA-8C6C-FD147D74AAAF}">
      <dgm:prSet/>
      <dgm:spPr/>
    </dgm:pt>
    <dgm:pt modelId="{0558D10C-CC68-4ECC-AD49-84CCE8544671}">
      <dgm:prSet custT="1"/>
      <dgm:spPr/>
      <dgm:t>
        <a:bodyPr/>
        <a:lstStyle/>
        <a:p>
          <a:r>
            <a:rPr lang="en-US" sz="2800" dirty="0"/>
            <a:t>81  </a:t>
          </a:r>
          <a:r>
            <a:rPr lang="en-US" sz="2000" dirty="0"/>
            <a:t>Total Features  36 Numerical  45 Categorical</a:t>
          </a:r>
          <a:endParaRPr lang="en-IN" sz="2800" dirty="0"/>
        </a:p>
      </dgm:t>
    </dgm:pt>
    <dgm:pt modelId="{6CC298B6-C8A3-4DFC-AF86-06A01B60F2C6}" type="parTrans" cxnId="{1703FEA1-3A9B-46DB-B028-2939A441B725}">
      <dgm:prSet/>
      <dgm:spPr/>
    </dgm:pt>
    <dgm:pt modelId="{B5E07A15-CB18-4D7A-891E-E2844D71301A}" type="sibTrans" cxnId="{1703FEA1-3A9B-46DB-B028-2939A441B725}">
      <dgm:prSet/>
      <dgm:spPr/>
    </dgm:pt>
    <dgm:pt modelId="{E0FC5F90-DE43-4623-8BAD-28868CB95A40}">
      <dgm:prSet custT="1"/>
      <dgm:spPr/>
      <dgm:t>
        <a:bodyPr/>
        <a:lstStyle/>
        <a:p>
          <a:r>
            <a:rPr lang="en-US" sz="2800" dirty="0" err="1"/>
            <a:t>SalePrice</a:t>
          </a:r>
          <a:r>
            <a:rPr lang="en-US" sz="2800" dirty="0"/>
            <a:t>  </a:t>
          </a:r>
          <a:r>
            <a:rPr lang="en-US" sz="2000" dirty="0"/>
            <a:t>Target Variable</a:t>
          </a:r>
          <a:endParaRPr lang="en-IN" sz="2800" dirty="0"/>
        </a:p>
      </dgm:t>
    </dgm:pt>
    <dgm:pt modelId="{EF8C988B-84C2-4980-80E3-2092DB32058A}" type="parTrans" cxnId="{12185524-3FAF-4654-B8A2-8A6184F2389E}">
      <dgm:prSet/>
      <dgm:spPr/>
    </dgm:pt>
    <dgm:pt modelId="{1A9811D0-A434-4BF1-841B-5160C1071DD2}" type="sibTrans" cxnId="{12185524-3FAF-4654-B8A2-8A6184F2389E}">
      <dgm:prSet/>
      <dgm:spPr/>
    </dgm:pt>
    <dgm:pt modelId="{4873D070-3358-4542-849C-770FE5563402}" type="pres">
      <dgm:prSet presAssocID="{F88C88EC-E62E-4866-8615-4D2C66ABBE57}" presName="diagram" presStyleCnt="0">
        <dgm:presLayoutVars>
          <dgm:dir/>
          <dgm:animLvl val="lvl"/>
          <dgm:resizeHandles val="exact"/>
        </dgm:presLayoutVars>
      </dgm:prSet>
      <dgm:spPr/>
    </dgm:pt>
    <dgm:pt modelId="{6506AC1C-2E42-4725-8E5F-076CC5C11D9A}" type="pres">
      <dgm:prSet presAssocID="{7C3E44A9-3DB5-4500-9CF0-9B5757C83113}" presName="compNode" presStyleCnt="0"/>
      <dgm:spPr/>
    </dgm:pt>
    <dgm:pt modelId="{2DEE363E-C9FC-4BE1-848E-921655BB6579}" type="pres">
      <dgm:prSet presAssocID="{7C3E44A9-3DB5-4500-9CF0-9B5757C83113}" presName="childRect" presStyleLbl="bgAcc1" presStyleIdx="0" presStyleCnt="3">
        <dgm:presLayoutVars>
          <dgm:bulletEnabled val="1"/>
        </dgm:presLayoutVars>
      </dgm:prSet>
      <dgm:spPr/>
    </dgm:pt>
    <dgm:pt modelId="{C681B876-EB44-41F9-A1EB-D82E93EE6DCB}" type="pres">
      <dgm:prSet presAssocID="{7C3E44A9-3DB5-4500-9CF0-9B5757C83113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F09AFD44-77AC-41DA-82DE-3F0F53EB2B66}" type="pres">
      <dgm:prSet presAssocID="{7C3E44A9-3DB5-4500-9CF0-9B5757C83113}" presName="parentRect" presStyleLbl="alignNode1" presStyleIdx="0" presStyleCnt="3"/>
      <dgm:spPr/>
    </dgm:pt>
    <dgm:pt modelId="{E12E1FD6-CD63-46DA-8F24-D69A1BC9814B}" type="pres">
      <dgm:prSet presAssocID="{7C3E44A9-3DB5-4500-9CF0-9B5757C83113}" presName="adorn" presStyleLbl="fgAccFollow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 with solid fill"/>
        </a:ext>
      </dgm:extLst>
    </dgm:pt>
    <dgm:pt modelId="{803329C0-9DB2-47B9-81E1-A444B89CF78E}" type="pres">
      <dgm:prSet presAssocID="{BEA9E0B7-B265-46FA-901E-7858EEE0BC84}" presName="sibTrans" presStyleLbl="sibTrans2D1" presStyleIdx="0" presStyleCnt="0"/>
      <dgm:spPr/>
    </dgm:pt>
    <dgm:pt modelId="{14A7A2B0-3B0C-4DCC-BE86-823035A3B381}" type="pres">
      <dgm:prSet presAssocID="{2C4AE020-ED55-4256-A85E-12D38CBFFF60}" presName="compNode" presStyleCnt="0"/>
      <dgm:spPr/>
    </dgm:pt>
    <dgm:pt modelId="{34EA612B-2579-4FB1-BA5D-FBDB2E33F05E}" type="pres">
      <dgm:prSet presAssocID="{2C4AE020-ED55-4256-A85E-12D38CBFFF60}" presName="childRect" presStyleLbl="bgAcc1" presStyleIdx="1" presStyleCnt="3">
        <dgm:presLayoutVars>
          <dgm:bulletEnabled val="1"/>
        </dgm:presLayoutVars>
      </dgm:prSet>
      <dgm:spPr/>
    </dgm:pt>
    <dgm:pt modelId="{9E620245-7EB6-4DDE-B311-08FB3EA65C99}" type="pres">
      <dgm:prSet presAssocID="{2C4AE020-ED55-4256-A85E-12D38CBFFF60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8CA9C8C2-A806-40AF-8B9C-4DAF9ECE892C}" type="pres">
      <dgm:prSet presAssocID="{2C4AE020-ED55-4256-A85E-12D38CBFFF60}" presName="parentRect" presStyleLbl="alignNode1" presStyleIdx="1" presStyleCnt="3"/>
      <dgm:spPr/>
    </dgm:pt>
    <dgm:pt modelId="{34696A1C-1123-45C8-96BE-9C183E318827}" type="pres">
      <dgm:prSet presAssocID="{2C4AE020-ED55-4256-A85E-12D38CBFFF60}" presName="adorn" presStyleLbl="fgAccFollowNode1" presStyleIdx="1" presStyleCnt="3"/>
      <dgm:spPr>
        <a:blipFill>
          <a:blip xmlns:r="http://schemas.openxmlformats.org/officeDocument/2006/relationships" r:embed="rId3"/>
          <a:srcRect/>
          <a:stretch>
            <a:fillRect l="-39000" r="-39000"/>
          </a:stretch>
        </a:blipFill>
      </dgm:spPr>
    </dgm:pt>
    <dgm:pt modelId="{9CDD542B-7307-4C4E-AEC0-17E7028F7064}" type="pres">
      <dgm:prSet presAssocID="{827D8D7A-7F3F-40B3-9D19-0D184D3CBBFF}" presName="sibTrans" presStyleLbl="sibTrans2D1" presStyleIdx="0" presStyleCnt="0"/>
      <dgm:spPr/>
    </dgm:pt>
    <dgm:pt modelId="{F2321416-AB5E-4B9F-A086-24DEFBC750E1}" type="pres">
      <dgm:prSet presAssocID="{0994EF63-18D4-40AF-8085-14991CD1A8E2}" presName="compNode" presStyleCnt="0"/>
      <dgm:spPr/>
    </dgm:pt>
    <dgm:pt modelId="{2F16FA7B-AC94-4C98-9B73-5BA058819B34}" type="pres">
      <dgm:prSet presAssocID="{0994EF63-18D4-40AF-8085-14991CD1A8E2}" presName="childRect" presStyleLbl="bgAcc1" presStyleIdx="2" presStyleCnt="3">
        <dgm:presLayoutVars>
          <dgm:bulletEnabled val="1"/>
        </dgm:presLayoutVars>
      </dgm:prSet>
      <dgm:spPr/>
    </dgm:pt>
    <dgm:pt modelId="{C8146150-6A07-4032-95F7-9CCFBA001312}" type="pres">
      <dgm:prSet presAssocID="{0994EF63-18D4-40AF-8085-14991CD1A8E2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9456AEB3-7092-40C1-A59E-32E5FA117189}" type="pres">
      <dgm:prSet presAssocID="{0994EF63-18D4-40AF-8085-14991CD1A8E2}" presName="parentRect" presStyleLbl="alignNode1" presStyleIdx="2" presStyleCnt="3"/>
      <dgm:spPr/>
    </dgm:pt>
    <dgm:pt modelId="{56A9DEB9-D89C-49D5-852C-3116BF7C5391}" type="pres">
      <dgm:prSet presAssocID="{0994EF63-18D4-40AF-8085-14991CD1A8E2}" presName="adorn" presStyleLbl="fgAccFollowNode1" presStyleIdx="2" presStyleCnt="3"/>
      <dgm:spPr>
        <a:blipFill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 with solid fill"/>
        </a:ext>
      </dgm:extLst>
    </dgm:pt>
  </dgm:ptLst>
  <dgm:cxnLst>
    <dgm:cxn modelId="{0EB32D24-57DB-43F6-B8DB-63F3DA3D6582}" type="presOf" srcId="{2C4AE020-ED55-4256-A85E-12D38CBFFF60}" destId="{8CA9C8C2-A806-40AF-8B9C-4DAF9ECE892C}" srcOrd="1" destOrd="0" presId="urn:microsoft.com/office/officeart/2005/8/layout/bList2"/>
    <dgm:cxn modelId="{12185524-3FAF-4654-B8A2-8A6184F2389E}" srcId="{0994EF63-18D4-40AF-8085-14991CD1A8E2}" destId="{E0FC5F90-DE43-4623-8BAD-28868CB95A40}" srcOrd="0" destOrd="0" parTransId="{EF8C988B-84C2-4980-80E3-2092DB32058A}" sibTransId="{1A9811D0-A434-4BF1-841B-5160C1071DD2}"/>
    <dgm:cxn modelId="{CA0D9725-1E48-40FE-9C3B-B4EA433B487C}" srcId="{F88C88EC-E62E-4866-8615-4D2C66ABBE57}" destId="{2C4AE020-ED55-4256-A85E-12D38CBFFF60}" srcOrd="1" destOrd="0" parTransId="{1CAA4576-DAC0-4737-9B1B-C611780E3A3E}" sibTransId="{827D8D7A-7F3F-40B3-9D19-0D184D3CBBFF}"/>
    <dgm:cxn modelId="{389EA528-968E-4CDB-BB62-B50AE6985BC8}" srcId="{F88C88EC-E62E-4866-8615-4D2C66ABBE57}" destId="{7C3E44A9-3DB5-4500-9CF0-9B5757C83113}" srcOrd="0" destOrd="0" parTransId="{B9D80260-DFD2-4D0D-87C3-01C914BA845D}" sibTransId="{BEA9E0B7-B265-46FA-901E-7858EEE0BC84}"/>
    <dgm:cxn modelId="{5D6D593E-1ADA-41D7-A3D9-7E4098829BA7}" type="presOf" srcId="{7C3E44A9-3DB5-4500-9CF0-9B5757C83113}" destId="{C681B876-EB44-41F9-A1EB-D82E93EE6DCB}" srcOrd="0" destOrd="0" presId="urn:microsoft.com/office/officeart/2005/8/layout/bList2"/>
    <dgm:cxn modelId="{48B59C5C-CD1B-4B50-9322-EA79643CADAB}" type="presOf" srcId="{E0FC5F90-DE43-4623-8BAD-28868CB95A40}" destId="{2F16FA7B-AC94-4C98-9B73-5BA058819B34}" srcOrd="0" destOrd="0" presId="urn:microsoft.com/office/officeart/2005/8/layout/bList2"/>
    <dgm:cxn modelId="{D7A10D67-8329-4DC6-BAC6-D99E83CFD577}" type="presOf" srcId="{0558D10C-CC68-4ECC-AD49-84CCE8544671}" destId="{34EA612B-2579-4FB1-BA5D-FBDB2E33F05E}" srcOrd="0" destOrd="0" presId="urn:microsoft.com/office/officeart/2005/8/layout/bList2"/>
    <dgm:cxn modelId="{EAD54459-2CF6-4B86-AA38-592B8EF4CC30}" type="presOf" srcId="{2A113944-88B3-4D5A-BED2-937AC8163CAB}" destId="{2DEE363E-C9FC-4BE1-848E-921655BB6579}" srcOrd="0" destOrd="0" presId="urn:microsoft.com/office/officeart/2005/8/layout/bList2"/>
    <dgm:cxn modelId="{9FF47D94-D264-46AA-8396-DEBF9B762571}" type="presOf" srcId="{F88C88EC-E62E-4866-8615-4D2C66ABBE57}" destId="{4873D070-3358-4542-849C-770FE5563402}" srcOrd="0" destOrd="0" presId="urn:microsoft.com/office/officeart/2005/8/layout/bList2"/>
    <dgm:cxn modelId="{0BF6CE9A-7ED5-4F23-9BAA-BA26F50CCB75}" type="presOf" srcId="{7C3E44A9-3DB5-4500-9CF0-9B5757C83113}" destId="{F09AFD44-77AC-41DA-82DE-3F0F53EB2B66}" srcOrd="1" destOrd="0" presId="urn:microsoft.com/office/officeart/2005/8/layout/bList2"/>
    <dgm:cxn modelId="{1703FEA1-3A9B-46DB-B028-2939A441B725}" srcId="{2C4AE020-ED55-4256-A85E-12D38CBFFF60}" destId="{0558D10C-CC68-4ECC-AD49-84CCE8544671}" srcOrd="0" destOrd="0" parTransId="{6CC298B6-C8A3-4DFC-AF86-06A01B60F2C6}" sibTransId="{B5E07A15-CB18-4D7A-891E-E2844D71301A}"/>
    <dgm:cxn modelId="{A1F13AA6-ABB2-4169-B5D2-1A87121F8CC7}" type="presOf" srcId="{0994EF63-18D4-40AF-8085-14991CD1A8E2}" destId="{9456AEB3-7092-40C1-A59E-32E5FA117189}" srcOrd="1" destOrd="0" presId="urn:microsoft.com/office/officeart/2005/8/layout/bList2"/>
    <dgm:cxn modelId="{BDAB64AB-F482-42F6-9D01-B8F0E9D0276C}" type="presOf" srcId="{0994EF63-18D4-40AF-8085-14991CD1A8E2}" destId="{C8146150-6A07-4032-95F7-9CCFBA001312}" srcOrd="0" destOrd="0" presId="urn:microsoft.com/office/officeart/2005/8/layout/bList2"/>
    <dgm:cxn modelId="{6F3912B5-3B9A-4E05-8B9E-6EFC19933569}" type="presOf" srcId="{2C4AE020-ED55-4256-A85E-12D38CBFFF60}" destId="{9E620245-7EB6-4DDE-B311-08FB3EA65C99}" srcOrd="0" destOrd="0" presId="urn:microsoft.com/office/officeart/2005/8/layout/bList2"/>
    <dgm:cxn modelId="{3C3C26BA-08B8-436A-BBC5-6E033F2362D9}" srcId="{F88C88EC-E62E-4866-8615-4D2C66ABBE57}" destId="{0994EF63-18D4-40AF-8085-14991CD1A8E2}" srcOrd="2" destOrd="0" parTransId="{8A5A400F-0548-4023-8ECF-9F3D312AFF34}" sibTransId="{A92BDF0F-6DA9-4F04-BDFC-812CF9373714}"/>
    <dgm:cxn modelId="{C5331DC2-F65D-4D75-A6B1-A3F6F1C2EB92}" type="presOf" srcId="{BEA9E0B7-B265-46FA-901E-7858EEE0BC84}" destId="{803329C0-9DB2-47B9-81E1-A444B89CF78E}" srcOrd="0" destOrd="0" presId="urn:microsoft.com/office/officeart/2005/8/layout/bList2"/>
    <dgm:cxn modelId="{07C3F0C8-86C7-4CFA-8C6C-FD147D74AAAF}" srcId="{7C3E44A9-3DB5-4500-9CF0-9B5757C83113}" destId="{2A113944-88B3-4D5A-BED2-937AC8163CAB}" srcOrd="0" destOrd="0" parTransId="{6F0FA731-11FE-4942-A04E-CD8819A9FABA}" sibTransId="{A78937BE-8666-4EB9-AA88-FE72E4624324}"/>
    <dgm:cxn modelId="{51C142E5-1748-41AA-B402-C84CBA85043E}" type="presOf" srcId="{827D8D7A-7F3F-40B3-9D19-0D184D3CBBFF}" destId="{9CDD542B-7307-4C4E-AEC0-17E7028F7064}" srcOrd="0" destOrd="0" presId="urn:microsoft.com/office/officeart/2005/8/layout/bList2"/>
    <dgm:cxn modelId="{B43FB4AB-7352-4324-9833-A4FBB8CFC5C8}" type="presParOf" srcId="{4873D070-3358-4542-849C-770FE5563402}" destId="{6506AC1C-2E42-4725-8E5F-076CC5C11D9A}" srcOrd="0" destOrd="0" presId="urn:microsoft.com/office/officeart/2005/8/layout/bList2"/>
    <dgm:cxn modelId="{C0F05167-9BC8-4082-8EBE-37CF859F33D2}" type="presParOf" srcId="{6506AC1C-2E42-4725-8E5F-076CC5C11D9A}" destId="{2DEE363E-C9FC-4BE1-848E-921655BB6579}" srcOrd="0" destOrd="0" presId="urn:microsoft.com/office/officeart/2005/8/layout/bList2"/>
    <dgm:cxn modelId="{B1BA6CCF-D096-4359-BA60-81389BBC2AD7}" type="presParOf" srcId="{6506AC1C-2E42-4725-8E5F-076CC5C11D9A}" destId="{C681B876-EB44-41F9-A1EB-D82E93EE6DCB}" srcOrd="1" destOrd="0" presId="urn:microsoft.com/office/officeart/2005/8/layout/bList2"/>
    <dgm:cxn modelId="{0FF222ED-CC24-41DA-A55F-948550EF70BB}" type="presParOf" srcId="{6506AC1C-2E42-4725-8E5F-076CC5C11D9A}" destId="{F09AFD44-77AC-41DA-82DE-3F0F53EB2B66}" srcOrd="2" destOrd="0" presId="urn:microsoft.com/office/officeart/2005/8/layout/bList2"/>
    <dgm:cxn modelId="{DE405548-6AA6-4ED1-A75D-BBF54D04AF7E}" type="presParOf" srcId="{6506AC1C-2E42-4725-8E5F-076CC5C11D9A}" destId="{E12E1FD6-CD63-46DA-8F24-D69A1BC9814B}" srcOrd="3" destOrd="0" presId="urn:microsoft.com/office/officeart/2005/8/layout/bList2"/>
    <dgm:cxn modelId="{9D8AD1E8-DC0A-418D-B231-277E0AC9B362}" type="presParOf" srcId="{4873D070-3358-4542-849C-770FE5563402}" destId="{803329C0-9DB2-47B9-81E1-A444B89CF78E}" srcOrd="1" destOrd="0" presId="urn:microsoft.com/office/officeart/2005/8/layout/bList2"/>
    <dgm:cxn modelId="{F4834699-7618-4B07-8A1A-B1C3B39EDFFD}" type="presParOf" srcId="{4873D070-3358-4542-849C-770FE5563402}" destId="{14A7A2B0-3B0C-4DCC-BE86-823035A3B381}" srcOrd="2" destOrd="0" presId="urn:microsoft.com/office/officeart/2005/8/layout/bList2"/>
    <dgm:cxn modelId="{4CDEE1F5-85D9-420A-885C-8968B0E9A3D6}" type="presParOf" srcId="{14A7A2B0-3B0C-4DCC-BE86-823035A3B381}" destId="{34EA612B-2579-4FB1-BA5D-FBDB2E33F05E}" srcOrd="0" destOrd="0" presId="urn:microsoft.com/office/officeart/2005/8/layout/bList2"/>
    <dgm:cxn modelId="{BCBC81CA-39D1-45CA-B1FD-D0369E820584}" type="presParOf" srcId="{14A7A2B0-3B0C-4DCC-BE86-823035A3B381}" destId="{9E620245-7EB6-4DDE-B311-08FB3EA65C99}" srcOrd="1" destOrd="0" presId="urn:microsoft.com/office/officeart/2005/8/layout/bList2"/>
    <dgm:cxn modelId="{DAA6993E-3140-415A-A08C-83F2851D3458}" type="presParOf" srcId="{14A7A2B0-3B0C-4DCC-BE86-823035A3B381}" destId="{8CA9C8C2-A806-40AF-8B9C-4DAF9ECE892C}" srcOrd="2" destOrd="0" presId="urn:microsoft.com/office/officeart/2005/8/layout/bList2"/>
    <dgm:cxn modelId="{6A63347C-477A-48CB-9B86-5DB62F7162D4}" type="presParOf" srcId="{14A7A2B0-3B0C-4DCC-BE86-823035A3B381}" destId="{34696A1C-1123-45C8-96BE-9C183E318827}" srcOrd="3" destOrd="0" presId="urn:microsoft.com/office/officeart/2005/8/layout/bList2"/>
    <dgm:cxn modelId="{C5DC4849-C74C-4FE7-9300-89688A9FCB4F}" type="presParOf" srcId="{4873D070-3358-4542-849C-770FE5563402}" destId="{9CDD542B-7307-4C4E-AEC0-17E7028F7064}" srcOrd="3" destOrd="0" presId="urn:microsoft.com/office/officeart/2005/8/layout/bList2"/>
    <dgm:cxn modelId="{323A7DB6-99BF-4A09-A79F-8165EB68B28C}" type="presParOf" srcId="{4873D070-3358-4542-849C-770FE5563402}" destId="{F2321416-AB5E-4B9F-A086-24DEFBC750E1}" srcOrd="4" destOrd="0" presId="urn:microsoft.com/office/officeart/2005/8/layout/bList2"/>
    <dgm:cxn modelId="{EE4F0AD7-CC03-44E9-8FD1-01B6732567D2}" type="presParOf" srcId="{F2321416-AB5E-4B9F-A086-24DEFBC750E1}" destId="{2F16FA7B-AC94-4C98-9B73-5BA058819B34}" srcOrd="0" destOrd="0" presId="urn:microsoft.com/office/officeart/2005/8/layout/bList2"/>
    <dgm:cxn modelId="{92866F56-8F0B-4B6F-9F1A-3DF1C3C3FDE9}" type="presParOf" srcId="{F2321416-AB5E-4B9F-A086-24DEFBC750E1}" destId="{C8146150-6A07-4032-95F7-9CCFBA001312}" srcOrd="1" destOrd="0" presId="urn:microsoft.com/office/officeart/2005/8/layout/bList2"/>
    <dgm:cxn modelId="{71D3075B-8B7D-4F4B-842B-6EF84CBC82E7}" type="presParOf" srcId="{F2321416-AB5E-4B9F-A086-24DEFBC750E1}" destId="{9456AEB3-7092-40C1-A59E-32E5FA117189}" srcOrd="2" destOrd="0" presId="urn:microsoft.com/office/officeart/2005/8/layout/bList2"/>
    <dgm:cxn modelId="{B7EFF910-5BCF-44DC-B652-80ADCD43A626}" type="presParOf" srcId="{F2321416-AB5E-4B9F-A086-24DEFBC750E1}" destId="{56A9DEB9-D89C-49D5-852C-3116BF7C5391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EE363E-C9FC-4BE1-848E-921655BB6579}">
      <dsp:nvSpPr>
        <dsp:cNvPr id="0" name=""/>
        <dsp:cNvSpPr/>
      </dsp:nvSpPr>
      <dsp:spPr>
        <a:xfrm>
          <a:off x="6997" y="113477"/>
          <a:ext cx="3022473" cy="2256212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06680" rIns="35560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1,460      </a:t>
          </a:r>
          <a:r>
            <a:rPr lang="en-US" sz="2000" kern="1200" dirty="0"/>
            <a:t>Rows/Observation </a:t>
          </a:r>
          <a:r>
            <a:rPr lang="en-US" sz="2800" kern="1200" dirty="0"/>
            <a:t>                     </a:t>
          </a:r>
          <a:endParaRPr lang="en-IN" sz="2800" kern="1200" dirty="0"/>
        </a:p>
      </dsp:txBody>
      <dsp:txXfrm>
        <a:off x="59863" y="166343"/>
        <a:ext cx="2916741" cy="2203346"/>
      </dsp:txXfrm>
    </dsp:sp>
    <dsp:sp modelId="{F09AFD44-77AC-41DA-82DE-3F0F53EB2B66}">
      <dsp:nvSpPr>
        <dsp:cNvPr id="0" name=""/>
        <dsp:cNvSpPr/>
      </dsp:nvSpPr>
      <dsp:spPr>
        <a:xfrm>
          <a:off x="6997" y="2369689"/>
          <a:ext cx="3022473" cy="9701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TOTAL VOLUME</a:t>
          </a:r>
          <a:endParaRPr lang="en-IN" sz="1900" kern="1200" dirty="0"/>
        </a:p>
      </dsp:txBody>
      <dsp:txXfrm>
        <a:off x="6997" y="2369689"/>
        <a:ext cx="2128502" cy="970171"/>
      </dsp:txXfrm>
    </dsp:sp>
    <dsp:sp modelId="{E12E1FD6-CD63-46DA-8F24-D69A1BC9814B}">
      <dsp:nvSpPr>
        <dsp:cNvPr id="0" name=""/>
        <dsp:cNvSpPr/>
      </dsp:nvSpPr>
      <dsp:spPr>
        <a:xfrm>
          <a:off x="2221001" y="2523792"/>
          <a:ext cx="1057865" cy="105786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EA612B-2579-4FB1-BA5D-FBDB2E33F05E}">
      <dsp:nvSpPr>
        <dsp:cNvPr id="0" name=""/>
        <dsp:cNvSpPr/>
      </dsp:nvSpPr>
      <dsp:spPr>
        <a:xfrm>
          <a:off x="3540946" y="113477"/>
          <a:ext cx="3022473" cy="2256212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06680" rIns="35560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81  </a:t>
          </a:r>
          <a:r>
            <a:rPr lang="en-US" sz="2000" kern="1200" dirty="0"/>
            <a:t>Total Features  36 Numerical  45 Categorical</a:t>
          </a:r>
          <a:endParaRPr lang="en-IN" sz="2800" kern="1200" dirty="0"/>
        </a:p>
      </dsp:txBody>
      <dsp:txXfrm>
        <a:off x="3593812" y="166343"/>
        <a:ext cx="2916741" cy="2203346"/>
      </dsp:txXfrm>
    </dsp:sp>
    <dsp:sp modelId="{8CA9C8C2-A806-40AF-8B9C-4DAF9ECE892C}">
      <dsp:nvSpPr>
        <dsp:cNvPr id="0" name=""/>
        <dsp:cNvSpPr/>
      </dsp:nvSpPr>
      <dsp:spPr>
        <a:xfrm>
          <a:off x="3540946" y="2369689"/>
          <a:ext cx="3022473" cy="9701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DIMENSIONALITY</a:t>
          </a:r>
          <a:endParaRPr lang="en-IN" sz="1900" kern="1200" dirty="0"/>
        </a:p>
      </dsp:txBody>
      <dsp:txXfrm>
        <a:off x="3540946" y="2369689"/>
        <a:ext cx="2128502" cy="970171"/>
      </dsp:txXfrm>
    </dsp:sp>
    <dsp:sp modelId="{34696A1C-1123-45C8-96BE-9C183E318827}">
      <dsp:nvSpPr>
        <dsp:cNvPr id="0" name=""/>
        <dsp:cNvSpPr/>
      </dsp:nvSpPr>
      <dsp:spPr>
        <a:xfrm>
          <a:off x="5754949" y="2523792"/>
          <a:ext cx="1057865" cy="1057865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39000" r="-39000"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16FA7B-AC94-4C98-9B73-5BA058819B34}">
      <dsp:nvSpPr>
        <dsp:cNvPr id="0" name=""/>
        <dsp:cNvSpPr/>
      </dsp:nvSpPr>
      <dsp:spPr>
        <a:xfrm>
          <a:off x="7074895" y="113477"/>
          <a:ext cx="3022473" cy="2256212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06680" rIns="35560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 err="1"/>
            <a:t>SalePrice</a:t>
          </a:r>
          <a:r>
            <a:rPr lang="en-US" sz="2800" kern="1200" dirty="0"/>
            <a:t>  </a:t>
          </a:r>
          <a:r>
            <a:rPr lang="en-US" sz="2000" kern="1200" dirty="0"/>
            <a:t>Target Variable</a:t>
          </a:r>
          <a:endParaRPr lang="en-IN" sz="2800" kern="1200" dirty="0"/>
        </a:p>
      </dsp:txBody>
      <dsp:txXfrm>
        <a:off x="7127761" y="166343"/>
        <a:ext cx="2916741" cy="2203346"/>
      </dsp:txXfrm>
    </dsp:sp>
    <dsp:sp modelId="{9456AEB3-7092-40C1-A59E-32E5FA117189}">
      <dsp:nvSpPr>
        <dsp:cNvPr id="0" name=""/>
        <dsp:cNvSpPr/>
      </dsp:nvSpPr>
      <dsp:spPr>
        <a:xfrm>
          <a:off x="7074895" y="2369689"/>
          <a:ext cx="3022473" cy="9701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0" rIns="2413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PREDICTION GOAL</a:t>
          </a:r>
          <a:endParaRPr lang="en-IN" sz="1900" kern="1200" dirty="0"/>
        </a:p>
      </dsp:txBody>
      <dsp:txXfrm>
        <a:off x="7074895" y="2369689"/>
        <a:ext cx="2128502" cy="970171"/>
      </dsp:txXfrm>
    </dsp:sp>
    <dsp:sp modelId="{56A9DEB9-D89C-49D5-852C-3116BF7C5391}">
      <dsp:nvSpPr>
        <dsp:cNvPr id="0" name=""/>
        <dsp:cNvSpPr/>
      </dsp:nvSpPr>
      <dsp:spPr>
        <a:xfrm>
          <a:off x="9288898" y="2523792"/>
          <a:ext cx="1057865" cy="1057865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756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648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05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183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44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34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847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822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51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30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749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2542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625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960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27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681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58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665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014D45-103C-95A7-C6DF-7FCEE191C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192" y="2181420"/>
            <a:ext cx="8173615" cy="3140112"/>
          </a:xfr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4200886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City with solid fill">
            <a:extLst>
              <a:ext uri="{FF2B5EF4-FFF2-40B4-BE49-F238E27FC236}">
                <a16:creationId xmlns:a16="http://schemas.microsoft.com/office/drawing/2014/main" id="{7C40816B-32F1-D2E3-BD9A-CF19BC5F1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2466" y="466530"/>
            <a:ext cx="1287624" cy="21087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61A74F-1E0C-7837-528C-E233C7187301}"/>
              </a:ext>
            </a:extLst>
          </p:cNvPr>
          <p:cNvSpPr txBox="1"/>
          <p:nvPr/>
        </p:nvSpPr>
        <p:spPr>
          <a:xfrm>
            <a:off x="7959012" y="5346441"/>
            <a:ext cx="3517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Prepared by:- Rashmi Pradeep</a:t>
            </a:r>
            <a:endParaRPr lang="en-IN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30887C2-BE39-E4C7-A7DF-1B1677941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2687215"/>
            <a:ext cx="9001462" cy="2108719"/>
          </a:xfrm>
        </p:spPr>
        <p:txBody>
          <a:bodyPr/>
          <a:lstStyle/>
          <a:p>
            <a:r>
              <a:rPr lang="en-US" dirty="0"/>
              <a:t>Exploratory data analysis on house price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0D4354-E25C-B05E-42AF-AFCDA6161D29}"/>
              </a:ext>
            </a:extLst>
          </p:cNvPr>
          <p:cNvSpPr txBox="1"/>
          <p:nvPr/>
        </p:nvSpPr>
        <p:spPr>
          <a:xfrm>
            <a:off x="1315617" y="681135"/>
            <a:ext cx="4040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Problem Statement:-</a:t>
            </a: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10-4E97-50B9-94B5-4868A731B9D9}"/>
              </a:ext>
            </a:extLst>
          </p:cNvPr>
          <p:cNvSpPr txBox="1"/>
          <p:nvPr/>
        </p:nvSpPr>
        <p:spPr>
          <a:xfrm>
            <a:off x="1483567" y="1446245"/>
            <a:ext cx="1289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Objective: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F2C5F1-032D-9CC8-3D7F-780D1A4C2126}"/>
              </a:ext>
            </a:extLst>
          </p:cNvPr>
          <p:cNvSpPr txBox="1"/>
          <p:nvPr/>
        </p:nvSpPr>
        <p:spPr>
          <a:xfrm>
            <a:off x="3055776" y="1501737"/>
            <a:ext cx="8280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Explore housing data to identify price drivers and prepare data for predictive modeling.</a:t>
            </a:r>
            <a:endParaRPr lang="en-IN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5FD7B9-E4D0-08FC-7D40-FB894F08D065}"/>
              </a:ext>
            </a:extLst>
          </p:cNvPr>
          <p:cNvSpPr txBox="1"/>
          <p:nvPr/>
        </p:nvSpPr>
        <p:spPr>
          <a:xfrm>
            <a:off x="3055776" y="2727458"/>
            <a:ext cx="72872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housing data to understand structure and patterns.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key factors influencing house sale prices.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Prepare clean and transform data for modeling.</a:t>
            </a:r>
            <a:endParaRPr lang="en-IN" dirty="0"/>
          </a:p>
        </p:txBody>
      </p:sp>
      <p:pic>
        <p:nvPicPr>
          <p:cNvPr id="13" name="Graphic 12" descr="Bar chart with solid fill">
            <a:extLst>
              <a:ext uri="{FF2B5EF4-FFF2-40B4-BE49-F238E27FC236}">
                <a16:creationId xmlns:a16="http://schemas.microsoft.com/office/drawing/2014/main" id="{B34338CD-4128-C513-09E5-E89E20923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922" y="3004457"/>
            <a:ext cx="914400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358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F3D8C-6A77-F881-AE2C-DA2A4C092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080" y="385750"/>
            <a:ext cx="10353761" cy="1326321"/>
          </a:xfrm>
        </p:spPr>
        <p:txBody>
          <a:bodyPr>
            <a:normAutofit/>
          </a:bodyPr>
          <a:lstStyle/>
          <a:p>
            <a:r>
              <a:rPr lang="en-US" sz="2800" dirty="0"/>
              <a:t>PROJECT PIPELINE/EDA WORKFLOW</a:t>
            </a:r>
            <a:endParaRPr lang="en-IN" sz="2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EEECC2-C1C7-05A9-FCC1-25E48256B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528904"/>
              </p:ext>
            </p:extLst>
          </p:nvPr>
        </p:nvGraphicFramePr>
        <p:xfrm>
          <a:off x="913795" y="1682885"/>
          <a:ext cx="10632332" cy="4640094"/>
        </p:xfrm>
        <a:graphic>
          <a:graphicData uri="http://schemas.openxmlformats.org/drawingml/2006/table">
            <a:tbl>
              <a:tblPr/>
              <a:tblGrid>
                <a:gridCol w="2325516">
                  <a:extLst>
                    <a:ext uri="{9D8B030D-6E8A-4147-A177-3AD203B41FA5}">
                      <a16:colId xmlns:a16="http://schemas.microsoft.com/office/drawing/2014/main" val="3049231340"/>
                    </a:ext>
                  </a:extLst>
                </a:gridCol>
                <a:gridCol w="8306816">
                  <a:extLst>
                    <a:ext uri="{9D8B030D-6E8A-4147-A177-3AD203B41FA5}">
                      <a16:colId xmlns:a16="http://schemas.microsoft.com/office/drawing/2014/main" val="4062353901"/>
                    </a:ext>
                  </a:extLst>
                </a:gridCol>
              </a:tblGrid>
              <a:tr h="4640094">
                <a:tc>
                  <a:txBody>
                    <a:bodyPr/>
                    <a:lstStyle/>
                    <a:p>
                      <a:r>
                        <a:rPr lang="en-US" dirty="0"/>
                        <a:t>1. Problem Understanding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2. Data Understanding</a:t>
                      </a:r>
                    </a:p>
                    <a:p>
                      <a:endParaRPr lang="en-US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3. Data Cleaning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4. EDA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objective and target variable (</a:t>
                      </a:r>
                      <a:r>
                        <a:rPr lang="en-US" dirty="0" err="1"/>
                        <a:t>SalePrice</a:t>
                      </a:r>
                      <a:r>
                        <a:rPr lang="en-US" dirty="0"/>
                        <a:t>).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Dataset Overview.</a:t>
                      </a:r>
                    </a:p>
                    <a:p>
                      <a:r>
                        <a:rPr lang="en-US" dirty="0"/>
                        <a:t>Variable types (Numerical &amp; Categorical)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Missing value analysis &amp; treatment.</a:t>
                      </a:r>
                    </a:p>
                    <a:p>
                      <a:r>
                        <a:rPr lang="en-US" dirty="0"/>
                        <a:t>Handling outliers.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Univariate analysis</a:t>
                      </a:r>
                    </a:p>
                    <a:p>
                      <a:r>
                        <a:rPr lang="en-US" dirty="0"/>
                        <a:t>Bivariate analysis</a:t>
                      </a:r>
                    </a:p>
                    <a:p>
                      <a:r>
                        <a:rPr lang="en-US" dirty="0"/>
                        <a:t>Multivariate analysis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9429961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527E89-EA10-3F1F-970C-7C5A3CFAB013}"/>
              </a:ext>
            </a:extLst>
          </p:cNvPr>
          <p:cNvCxnSpPr>
            <a:cxnSpLocks/>
          </p:cNvCxnSpPr>
          <p:nvPr/>
        </p:nvCxnSpPr>
        <p:spPr>
          <a:xfrm>
            <a:off x="913795" y="2694563"/>
            <a:ext cx="10662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C61F88-1B45-E655-4C2E-B70251BEB7E5}"/>
              </a:ext>
            </a:extLst>
          </p:cNvPr>
          <p:cNvCxnSpPr/>
          <p:nvPr/>
        </p:nvCxnSpPr>
        <p:spPr>
          <a:xfrm>
            <a:off x="913795" y="4114801"/>
            <a:ext cx="10662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8AD1A5-D98C-7FFC-91C8-0A65AB8CE686}"/>
              </a:ext>
            </a:extLst>
          </p:cNvPr>
          <p:cNvCxnSpPr/>
          <p:nvPr/>
        </p:nvCxnSpPr>
        <p:spPr>
          <a:xfrm flipV="1">
            <a:off x="913795" y="5097294"/>
            <a:ext cx="10662120" cy="97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670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62206-588C-21D9-53CD-E52667D83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Data SET OVERVIEW</a:t>
            </a: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AF1D5D-A3E6-8B7E-67CF-E0970501FB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876964"/>
              </p:ext>
            </p:extLst>
          </p:nvPr>
        </p:nvGraphicFramePr>
        <p:xfrm>
          <a:off x="913795" y="2096064"/>
          <a:ext cx="10353762" cy="3695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671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9BA85-D35F-B90B-746B-9B0FF245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Data Understanding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5E909-4CA9-D864-E290-BE8FA5E10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Identified numerical and categorical variables.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Checked data types and variables meanings.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Reviewed key features influencing house prices.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Understood target-feature relationships conceptually.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5495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F665D-F3E3-5B0F-3942-A305E0283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Tools, libraries &amp; platform used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7A6CB-BE49-2567-0E18-704A0BB53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Programming Language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94FDC-3EA7-1AF8-1BD7-4404406AEE78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Python 3</a:t>
            </a:r>
            <a:endParaRPr lang="en-IN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C89DD9-E3AB-2D66-8D50-C93450A89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12750" y="1772816"/>
            <a:ext cx="3298558" cy="823304"/>
          </a:xfrm>
        </p:spPr>
        <p:txBody>
          <a:bodyPr/>
          <a:lstStyle/>
          <a:p>
            <a:r>
              <a:rPr lang="en-US" dirty="0"/>
              <a:t>Libraries Used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723BD9-E377-2E17-A1A9-0FD2E488A04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124132" y="2911624"/>
            <a:ext cx="3620568" cy="2879576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 err="1"/>
              <a:t>Numpy</a:t>
            </a:r>
            <a:r>
              <a:rPr lang="en-US" sz="1800" dirty="0"/>
              <a:t>-Numerical computations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Pandas-Data manipulation &amp; cleaning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Matplotlib-Basic data validation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Seaborn-Statical &amp; advanced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ED7D13-ACE5-2288-49DC-DBF3B8C6AE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507800"/>
          </a:xfrm>
        </p:spPr>
        <p:txBody>
          <a:bodyPr/>
          <a:lstStyle/>
          <a:p>
            <a:r>
              <a:rPr lang="en-US" dirty="0"/>
              <a:t>Platform/Environment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04D12B-7612-1ACC-CD0C-157B1603EBB3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Jupyter</a:t>
            </a:r>
            <a:r>
              <a:rPr lang="en-US" sz="1800" dirty="0"/>
              <a:t> notebook(Google </a:t>
            </a:r>
            <a:r>
              <a:rPr lang="en-US" sz="1800" dirty="0" err="1"/>
              <a:t>colab</a:t>
            </a:r>
            <a:r>
              <a:rPr lang="en-US" sz="1800" dirty="0"/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Microsoft power point-Presentation &amp; insights sharing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87387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D952C-8D45-DCF3-DD89-8C632E45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530280"/>
            <a:ext cx="10353761" cy="1326321"/>
          </a:xfrm>
        </p:spPr>
        <p:txBody>
          <a:bodyPr>
            <a:normAutofit/>
          </a:bodyPr>
          <a:lstStyle/>
          <a:p>
            <a:r>
              <a:rPr lang="en-US" sz="2800" dirty="0"/>
              <a:t>SUMMARY STATISTICS OF SALE PRICE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62BD89-F727-56A0-F954-BEA974E56290}"/>
              </a:ext>
            </a:extLst>
          </p:cNvPr>
          <p:cNvSpPr txBox="1"/>
          <p:nvPr/>
        </p:nvSpPr>
        <p:spPr>
          <a:xfrm>
            <a:off x="669588" y="1674674"/>
            <a:ext cx="108421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dataset contains 1460 residential properties.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average sale price is approx. Rs 180921, indicating the general market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median sale price is Rs 163000, which is lower than the mean, suggesting a right skewed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 prices range from Rs 34900(minimum) to Rs 755000 (maximum), showing a wide variation in house prices.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58D8316-96B8-8B19-64DF-DE133102B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649" y="3416569"/>
            <a:ext cx="7258050" cy="299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805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6A8CA3-3180-78F3-EA93-E3F64ABE8F15}"/>
              </a:ext>
            </a:extLst>
          </p:cNvPr>
          <p:cNvSpPr txBox="1"/>
          <p:nvPr/>
        </p:nvSpPr>
        <p:spPr>
          <a:xfrm>
            <a:off x="2108717" y="541175"/>
            <a:ext cx="81736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    UNIVARIATE ANALYSIS (NUMERICAL)</a:t>
            </a:r>
            <a:endParaRPr lang="en-IN" sz="2800" dirty="0"/>
          </a:p>
        </p:txBody>
      </p:sp>
      <p:sp>
        <p:nvSpPr>
          <p:cNvPr id="3" name="Star: 4 Points 2">
            <a:extLst>
              <a:ext uri="{FF2B5EF4-FFF2-40B4-BE49-F238E27FC236}">
                <a16:creationId xmlns:a16="http://schemas.microsoft.com/office/drawing/2014/main" id="{8C4FED17-6679-6DEE-AC5B-04D517BF86B5}"/>
              </a:ext>
            </a:extLst>
          </p:cNvPr>
          <p:cNvSpPr/>
          <p:nvPr/>
        </p:nvSpPr>
        <p:spPr>
          <a:xfrm>
            <a:off x="615820" y="1408922"/>
            <a:ext cx="252000" cy="288000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4FCD26-7710-E388-6E09-42D286CC2E52}"/>
              </a:ext>
            </a:extLst>
          </p:cNvPr>
          <p:cNvSpPr txBox="1"/>
          <p:nvPr/>
        </p:nvSpPr>
        <p:spPr>
          <a:xfrm flipH="1">
            <a:off x="1463025" y="1231641"/>
            <a:ext cx="10442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Univariate analysis examines the distribution of individual variables independently. Here, we analyze the target variable Sale price to understand its distribution, central tendency, spread, skewness, and presence of outliers.</a:t>
            </a:r>
            <a:endParaRPr lang="en-IN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B83AA04-5D23-7FB4-5D14-BE6165CDF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40" y="2323322"/>
            <a:ext cx="5554824" cy="3172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EF3274F-1805-FC9C-E1FC-900513A54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576" y="2323322"/>
            <a:ext cx="5878284" cy="3172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tar: 4 Points 4">
            <a:extLst>
              <a:ext uri="{FF2B5EF4-FFF2-40B4-BE49-F238E27FC236}">
                <a16:creationId xmlns:a16="http://schemas.microsoft.com/office/drawing/2014/main" id="{1FAA9E51-D71A-ED20-653C-70BB4E193D2B}"/>
              </a:ext>
            </a:extLst>
          </p:cNvPr>
          <p:cNvSpPr/>
          <p:nvPr/>
        </p:nvSpPr>
        <p:spPr>
          <a:xfrm>
            <a:off x="615820" y="5831633"/>
            <a:ext cx="216000" cy="288000"/>
          </a:xfrm>
          <a:prstGeom prst="star4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B7E0B-5F83-D9C0-FD99-F974CE0B9ECD}"/>
              </a:ext>
            </a:extLst>
          </p:cNvPr>
          <p:cNvSpPr txBox="1"/>
          <p:nvPr/>
        </p:nvSpPr>
        <p:spPr>
          <a:xfrm>
            <a:off x="867820" y="5756416"/>
            <a:ext cx="11038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Sale Price distribution is right skewed with most properties concentrated in the lower to mid price range and the box plot reveals the presence of several high value outliers.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577256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115F8B-129B-A3CC-83C1-3113765F03B3}"/>
              </a:ext>
            </a:extLst>
          </p:cNvPr>
          <p:cNvSpPr txBox="1"/>
          <p:nvPr/>
        </p:nvSpPr>
        <p:spPr>
          <a:xfrm>
            <a:off x="2080727" y="270588"/>
            <a:ext cx="8369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UNIVARIATE ANALYSIS (CATEGORICAL)</a:t>
            </a:r>
            <a:endParaRPr lang="en-IN" sz="28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5D49618-B596-F14A-C51F-0D0A86ABF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74" y="3853543"/>
            <a:ext cx="5962261" cy="2733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D64E2E59-9C8A-90D8-A69A-023E35391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59" y="923147"/>
            <a:ext cx="6027576" cy="2575829"/>
          </a:xfrm>
          <a:prstGeom prst="rect">
            <a:avLst/>
          </a:prstGeom>
          <a:solidFill>
            <a:schemeClr val="accent5">
              <a:lumMod val="75000"/>
              <a:alpha val="93000"/>
            </a:schemeClr>
          </a:solidFill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F8BB55-EF0A-3031-F97B-BEEC376CAD05}"/>
              </a:ext>
            </a:extLst>
          </p:cNvPr>
          <p:cNvCxnSpPr>
            <a:cxnSpLocks/>
          </p:cNvCxnSpPr>
          <p:nvPr/>
        </p:nvCxnSpPr>
        <p:spPr>
          <a:xfrm>
            <a:off x="0" y="3601616"/>
            <a:ext cx="121920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4495B6E-1097-BA05-48DF-FCBC9732DA26}"/>
              </a:ext>
            </a:extLst>
          </p:cNvPr>
          <p:cNvSpPr txBox="1"/>
          <p:nvPr/>
        </p:nvSpPr>
        <p:spPr>
          <a:xfrm>
            <a:off x="7137918" y="1175657"/>
            <a:ext cx="38068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Most  houses are sold under normal sale conditions, while other sale types occur very rarely.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7FE8E-266D-052E-98A9-E71A17EDB03D}"/>
              </a:ext>
            </a:extLst>
          </p:cNvPr>
          <p:cNvSpPr txBox="1"/>
          <p:nvPr/>
        </p:nvSpPr>
        <p:spPr>
          <a:xfrm>
            <a:off x="7287208" y="4329404"/>
            <a:ext cx="35176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majority of properties belong to the 1Fam building type, indicating dominance of single family homes in the dataset.</a:t>
            </a:r>
            <a:endParaRPr lang="en-IN" sz="16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4FFCF6-682E-0FA2-3788-E82F557BAC7A}"/>
              </a:ext>
            </a:extLst>
          </p:cNvPr>
          <p:cNvCxnSpPr>
            <a:cxnSpLocks/>
          </p:cNvCxnSpPr>
          <p:nvPr/>
        </p:nvCxnSpPr>
        <p:spPr>
          <a:xfrm>
            <a:off x="6783355" y="1362269"/>
            <a:ext cx="2892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1DB05C-3F3E-0953-09BD-769798AE7422}"/>
              </a:ext>
            </a:extLst>
          </p:cNvPr>
          <p:cNvCxnSpPr>
            <a:cxnSpLocks/>
          </p:cNvCxnSpPr>
          <p:nvPr/>
        </p:nvCxnSpPr>
        <p:spPr>
          <a:xfrm>
            <a:off x="6848669" y="4516016"/>
            <a:ext cx="3219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44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0C1078-515F-24E4-7217-54898CA557C3}"/>
              </a:ext>
            </a:extLst>
          </p:cNvPr>
          <p:cNvSpPr txBox="1"/>
          <p:nvPr/>
        </p:nvSpPr>
        <p:spPr>
          <a:xfrm>
            <a:off x="1362268" y="494522"/>
            <a:ext cx="9918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SKEWNESS &amp; DISTRIBUTION INSIGHTS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3B9C09-CDBC-3DA0-3CAA-C4F727DB6432}"/>
              </a:ext>
            </a:extLst>
          </p:cNvPr>
          <p:cNvSpPr txBox="1"/>
          <p:nvPr/>
        </p:nvSpPr>
        <p:spPr>
          <a:xfrm>
            <a:off x="1101012" y="1315616"/>
            <a:ext cx="102730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Sale Price shows positive(right) skewness.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Mean value is greater than the median.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Majority of houses fall in the lower to mid price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Presence of high value outliers stretches the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Log transformation can help improve normality for modeling.</a:t>
            </a:r>
            <a:endParaRPr lang="en-IN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2837FA-725F-801F-9EF5-736EAE04D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369" y="2936929"/>
            <a:ext cx="8426244" cy="374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856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68CE09-0444-8DAF-4E92-ED20D6C1D2EA}"/>
              </a:ext>
            </a:extLst>
          </p:cNvPr>
          <p:cNvSpPr txBox="1"/>
          <p:nvPr/>
        </p:nvSpPr>
        <p:spPr>
          <a:xfrm>
            <a:off x="3765754" y="157316"/>
            <a:ext cx="5909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BIVARIATE ANALYSIS</a:t>
            </a:r>
            <a:endParaRPr lang="en-IN" sz="2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5645FED-D304-7A5D-7D4A-5ADA7BA47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5" y="979714"/>
            <a:ext cx="6050854" cy="390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D0AE6DA-6DB2-2FA4-48AA-6850B8175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188" y="979713"/>
            <a:ext cx="5903167" cy="390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1690F0-BB6A-2777-A0B1-77688D26EC85}"/>
              </a:ext>
            </a:extLst>
          </p:cNvPr>
          <p:cNvSpPr txBox="1"/>
          <p:nvPr/>
        </p:nvSpPr>
        <p:spPr>
          <a:xfrm>
            <a:off x="216311" y="4991876"/>
            <a:ext cx="1156995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600" dirty="0"/>
              <a:t>A strong positive relationship is observed between </a:t>
            </a:r>
            <a:r>
              <a:rPr lang="en-US" sz="1600" dirty="0" err="1"/>
              <a:t>GrLivArea</a:t>
            </a:r>
            <a:r>
              <a:rPr lang="en-US" sz="1600" dirty="0"/>
              <a:t> and </a:t>
            </a:r>
            <a:r>
              <a:rPr lang="en-US" sz="1600" dirty="0" err="1"/>
              <a:t>SalePrice</a:t>
            </a:r>
            <a:r>
              <a:rPr lang="en-US" sz="1600" dirty="0"/>
              <a:t>, indicating that larger living areas tend to have higher house prices.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Overall Qual shows a clear increasing trend in median sale price, confirming its strong influence on house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Variability in sale prices increases with higher quality ratings, suggesting premium properties exhibit greater price dispersion.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few high value outliers are visible, particularly for large houses and high quality scores.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230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67D397-A817-C1E8-E2E7-9A9E5AF19465}"/>
              </a:ext>
            </a:extLst>
          </p:cNvPr>
          <p:cNvSpPr txBox="1"/>
          <p:nvPr/>
        </p:nvSpPr>
        <p:spPr>
          <a:xfrm>
            <a:off x="3498979" y="382555"/>
            <a:ext cx="4461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MULTIVARIATE ANALYSIS</a:t>
            </a:r>
            <a:endParaRPr lang="en-IN" sz="2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BE3C3C5-396D-761A-205D-831ED9DAF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28" y="1446245"/>
            <a:ext cx="6736703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502AFB-2EEB-716D-85F5-0515A493CCC3}"/>
              </a:ext>
            </a:extLst>
          </p:cNvPr>
          <p:cNvSpPr txBox="1"/>
          <p:nvPr/>
        </p:nvSpPr>
        <p:spPr>
          <a:xfrm>
            <a:off x="7352522" y="1520890"/>
            <a:ext cx="460932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SalePrice</a:t>
            </a:r>
            <a:r>
              <a:rPr lang="en-US" sz="1600" dirty="0"/>
              <a:t> shows strong positive correlation with </a:t>
            </a:r>
            <a:r>
              <a:rPr lang="en-US" sz="1600" dirty="0" err="1"/>
              <a:t>OverallQual</a:t>
            </a:r>
            <a:r>
              <a:rPr lang="en-US" sz="1600" dirty="0"/>
              <a:t> and </a:t>
            </a:r>
            <a:r>
              <a:rPr lang="en-US" sz="1600" dirty="0" err="1"/>
              <a:t>GrLivArea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severe multicollinearity observed among major predictors.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Relationships observed are consistent with bivariate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Selected features are suitable for further modeling.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17761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9496663E-5BCB-4B28-31AB-F80283AA9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0" y="979714"/>
            <a:ext cx="8126962" cy="5878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CD971F-B397-59E2-D6E4-0CC96A39A034}"/>
              </a:ext>
            </a:extLst>
          </p:cNvPr>
          <p:cNvSpPr txBox="1"/>
          <p:nvPr/>
        </p:nvSpPr>
        <p:spPr>
          <a:xfrm>
            <a:off x="2332653" y="93305"/>
            <a:ext cx="6553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MULTIVARIATE ANALYSIS (PAIR PLOT)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E63D2-04E9-CFFB-D3AA-750D294396FB}"/>
              </a:ext>
            </a:extLst>
          </p:cNvPr>
          <p:cNvSpPr txBox="1"/>
          <p:nvPr/>
        </p:nvSpPr>
        <p:spPr>
          <a:xfrm>
            <a:off x="8434873" y="1278294"/>
            <a:ext cx="348031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Sale Price shows strong positive correlation with </a:t>
            </a:r>
            <a:r>
              <a:rPr lang="en-US" sz="1600" dirty="0" err="1"/>
              <a:t>GrLivArea</a:t>
            </a:r>
            <a:r>
              <a:rPr lang="en-US" sz="1600" dirty="0"/>
              <a:t> and Overall Qual.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Distribution plots confirms right skewness in Sale Price.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No severe multicollinearity observed among selected predictors.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Relationships are consistent with bivariate analysis findings.</a:t>
            </a:r>
          </a:p>
        </p:txBody>
      </p:sp>
    </p:spTree>
    <p:extLst>
      <p:ext uri="{BB962C8B-B14F-4D97-AF65-F5344CB8AC3E}">
        <p14:creationId xmlns:p14="http://schemas.microsoft.com/office/powerpoint/2010/main" val="2144963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F2511-75BF-1B71-1199-6A3F4C39B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86" y="403640"/>
            <a:ext cx="10353761" cy="855994"/>
          </a:xfrm>
        </p:spPr>
        <p:txBody>
          <a:bodyPr/>
          <a:lstStyle/>
          <a:p>
            <a:r>
              <a:rPr lang="en-US" sz="2800" dirty="0"/>
              <a:t>PREDICTION</a:t>
            </a:r>
            <a:r>
              <a:rPr lang="en-US" dirty="0"/>
              <a:t> </a:t>
            </a:r>
            <a:r>
              <a:rPr lang="en-US" sz="2800" dirty="0"/>
              <a:t>INSIGHTS &amp; CONCLUSION</a:t>
            </a:r>
            <a:endParaRPr lang="en-IN" sz="2800" dirty="0"/>
          </a:p>
        </p:txBody>
      </p:sp>
      <p:pic>
        <p:nvPicPr>
          <p:cNvPr id="5" name="Content Placeholder 4" descr="Upward trend with solid fill">
            <a:extLst>
              <a:ext uri="{FF2B5EF4-FFF2-40B4-BE49-F238E27FC236}">
                <a16:creationId xmlns:a16="http://schemas.microsoft.com/office/drawing/2014/main" id="{AE94786A-4FB9-E47C-E687-9566DC3CF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6078" y="345234"/>
            <a:ext cx="914400" cy="9144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EBC456-997D-A930-6FD1-FAC5BBE66A8E}"/>
              </a:ext>
            </a:extLst>
          </p:cNvPr>
          <p:cNvSpPr txBox="1"/>
          <p:nvPr/>
        </p:nvSpPr>
        <p:spPr>
          <a:xfrm>
            <a:off x="821094" y="1475171"/>
            <a:ext cx="98158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Sale Price is strongly influenced by Overall Qual, </a:t>
            </a:r>
            <a:r>
              <a:rPr lang="en-US" sz="1600" dirty="0" err="1"/>
              <a:t>GrLivArea</a:t>
            </a:r>
            <a:r>
              <a:rPr lang="en-US" sz="1600" dirty="0"/>
              <a:t>, and Total </a:t>
            </a:r>
            <a:r>
              <a:rPr lang="en-US" sz="1600" dirty="0" err="1"/>
              <a:t>BsmtSF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Numerical features showed stronger predictive power compared to categorical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Right skewness in Sale Price suggest log transformation may improve model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Outliers were identified but retained to preserve real world data variability.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EDA findings provide a strong foundation for accurate model building.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A2FAA5-3F69-7EAA-8AAC-0A31107982C4}"/>
              </a:ext>
            </a:extLst>
          </p:cNvPr>
          <p:cNvSpPr txBox="1"/>
          <p:nvPr/>
        </p:nvSpPr>
        <p:spPr>
          <a:xfrm>
            <a:off x="1968759" y="3593220"/>
            <a:ext cx="7800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CHALLENGES FACED DURING EDA</a:t>
            </a:r>
            <a:endParaRPr lang="en-IN" sz="2800" dirty="0"/>
          </a:p>
        </p:txBody>
      </p:sp>
      <p:pic>
        <p:nvPicPr>
          <p:cNvPr id="9" name="Graphic 8" descr="Playbook with solid fill">
            <a:extLst>
              <a:ext uri="{FF2B5EF4-FFF2-40B4-BE49-F238E27FC236}">
                <a16:creationId xmlns:a16="http://schemas.microsoft.com/office/drawing/2014/main" id="{182A7742-0BFF-B80F-839C-70B118A87B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30073" y="3433665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9C4E5D-0838-0DAF-36D2-47146C8EC07A}"/>
              </a:ext>
            </a:extLst>
          </p:cNvPr>
          <p:cNvSpPr txBox="1"/>
          <p:nvPr/>
        </p:nvSpPr>
        <p:spPr>
          <a:xfrm>
            <a:off x="914400" y="4544008"/>
            <a:ext cx="87241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Handling missing values across multiple numerical and categorical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Selecting relevant features from a large numbers of variables (81 features).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Dealing with outliers without removing important high value properties.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Interpreting skewed distribution and choosing appropriate transformation.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Deciding which visualizations were meaningful.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69510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C6C28-EA53-78EF-89CC-AA703AA71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5082073"/>
          </a:xfrm>
        </p:spPr>
        <p:txBody>
          <a:bodyPr>
            <a:normAutofit/>
          </a:bodyPr>
          <a:lstStyle/>
          <a:p>
            <a:r>
              <a:rPr lang="en-US" sz="4000" dirty="0"/>
              <a:t>THANK YOU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9345326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503</TotalTime>
  <Words>716</Words>
  <Application>Microsoft Office PowerPoint</Application>
  <PresentationFormat>Widescreen</PresentationFormat>
  <Paragraphs>110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Bookman Old Style</vt:lpstr>
      <vt:lpstr>Rockwell</vt:lpstr>
      <vt:lpstr>Wingdings</vt:lpstr>
      <vt:lpstr>Damask</vt:lpstr>
      <vt:lpstr>PowerPoint Presentation</vt:lpstr>
      <vt:lpstr>Exploratory data analysis on house price project</vt:lpstr>
      <vt:lpstr>PowerPoint Presentation</vt:lpstr>
      <vt:lpstr>PROJECT PIPELINE/EDA WORKFLOW</vt:lpstr>
      <vt:lpstr>Data SET OVERVIEW</vt:lpstr>
      <vt:lpstr>Data Understanding</vt:lpstr>
      <vt:lpstr>Tools, libraries &amp; platform used</vt:lpstr>
      <vt:lpstr>SUMMARY STATISTICS OF SALE PRICE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PREDICTION INSIGHTS &amp;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rashmi pradeep</dc:creator>
  <cp:lastModifiedBy>rashmi pradeep</cp:lastModifiedBy>
  <cp:revision>5</cp:revision>
  <dcterms:created xsi:type="dcterms:W3CDTF">2026-01-23T17:26:13Z</dcterms:created>
  <dcterms:modified xsi:type="dcterms:W3CDTF">2026-01-30T18:02:14Z</dcterms:modified>
</cp:coreProperties>
</file>